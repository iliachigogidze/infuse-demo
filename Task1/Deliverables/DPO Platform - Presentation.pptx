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DPO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Phone Outreach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Analysis &amp; 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Ilia Chigogidze  |  April 7, 2026</a:t>
            </a:r>
            <a:endParaRPr lang="en-US" sz="1400" dirty="0"/>
          </a:p>
        </p:txBody>
      </p:sp>
      <p:pic>
        <p:nvPicPr>
          <p:cNvPr id="9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51560"/>
            <a:ext cx="54864" cy="5303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612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82880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828800" y="1325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background &amp; systems overview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169164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1691640"/>
            <a:ext cx="54864" cy="5303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13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828800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Process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828800" y="1965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stages of current workflow &amp; pain points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233172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331720"/>
            <a:ext cx="54864" cy="5303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4144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82880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MVP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28800" y="2606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solution — 6 streamlined stages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297180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2971800"/>
            <a:ext cx="54864" cy="5303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8152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82880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Vision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828800" y="3246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dashboards &amp; reporting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361188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48640" y="3611880"/>
            <a:ext cx="54864" cy="5303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2160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801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1828800" y="363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1828800" y="3886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KPIs, limitations &amp; risks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425196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48640" y="4251960"/>
            <a:ext cx="54864" cy="5303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361688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8016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1"/>
          <p:cNvSpPr/>
          <p:nvPr/>
        </p:nvSpPr>
        <p:spPr>
          <a:xfrm>
            <a:off x="182880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1828800" y="4526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roles &amp; milestones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CONTEXT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DPO department manages lead generation campaigns. Vendors make phone calls, collect leads, and those leads go through verification before client delivery.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entire process runs on Google Sheets — dozens of disconnected spreadsheets, manual data entry, and a workflow that doesn't scale.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1005840"/>
            <a:ext cx="3657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0" y="1005840"/>
            <a:ext cx="54864" cy="5120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106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INFUSE LG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71500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campaign creation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9200" y="1627632"/>
            <a:ext cx="3657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29200" y="1627632"/>
            <a:ext cx="54864" cy="5120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72821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1500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71500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Client/CID microservice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029200" y="2249424"/>
            <a:ext cx="3657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0" y="2249424"/>
            <a:ext cx="54864" cy="5120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35000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715000" y="2523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Master, Remote, Tracking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029200" y="2871216"/>
            <a:ext cx="3657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029200" y="2871216"/>
            <a:ext cx="54864" cy="5120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9718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15000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MainDB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715000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lead checks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029200" y="3493008"/>
            <a:ext cx="3657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029200" y="3493008"/>
            <a:ext cx="54864" cy="5120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59359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71500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/ LT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5715000" y="3767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verification &amp; tools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26"/>
          <p:cNvSpPr/>
          <p:nvPr/>
        </p:nvSpPr>
        <p:spPr>
          <a:xfrm>
            <a:off x="73152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Coordinators  ·  DPO Admin  ·  QC/QA  ·  Vendors  ·  LV Team  ·  Automated Scripts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AS-IS PROCESS — STAGES 1-3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0584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143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097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Campaign Creation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 creates client/campaign in INFUSE LG. CID assigned, synced to Registry.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317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33172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1732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Initialization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creates Word doc with campaign details (goal, GEO, criteria, CQs, ABM lists). Emails to DPO Admin.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15468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91640" y="31363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Word doc, no validation, emailed around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365760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41732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Setup in Tracking Sheets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417320" y="4069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Admin manually enters data into Campaign Tracking tab. Creates Master Sheet from template. Configures Settings &amp; Stats tabs.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480560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91640" y="44622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manual data entry, typo-prone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AS-IS PROCESS — STAGES 4-5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05840"/>
            <a:ext cx="54864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143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097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 &amp; Requirements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463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Admin allocates goal portions to vendors (e.g. V20 gets 100/147 leads)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Remote Google Sheet per vendor per campaign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campaign requirements via email/chat separately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script must be approved before calling starts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37744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3591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sprawl: 10 campaigns × 3 vendors = 30 Remote sheets + 10 Master sheets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880360"/>
            <a:ext cx="54864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1732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&amp; Upload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417320" y="3337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call prospects, record conversations, collect lead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Remote sheet: name, company, email, title, phone, CQ answers, recording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Auto-copy script moves leads from Remote → Master sheet (works well)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at upload — vendor data quality varies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25196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42336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 validation — errors slip through and block downstream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AS-IS PROCESS — STAGE 6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BOTTLENECK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097280"/>
            <a:ext cx="54864" cy="3474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Transfer to MainDB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Script Design (every 1 min):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19659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unprocessed &amp; approved leads on Master sheet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/api/lead-upload/dpo → receive partition UUID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GET /api/lead-upload/dpo-status?uuid={uuid} for initial statuses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error or 10+ failures → stop, set error status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3200400"/>
            <a:ext cx="7498080" cy="11887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3200400"/>
            <a:ext cx="7498080" cy="36576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3375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3291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designed automation, CCs also manually copy leads to MainDB.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417320" y="3657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transfer is still common — slow, error-prone, blocks everything downstream.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AS-IS PROCESS — STAGES 7-8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05840"/>
            <a:ext cx="54864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143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MainDB Initial Checks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554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initial statuses in 3 categories: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1874520"/>
            <a:ext cx="338328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1874520"/>
            <a:ext cx="45720" cy="438912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1892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2084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valid, moves forward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2423160"/>
            <a:ext cx="338328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2423160"/>
            <a:ext cx="45720" cy="43891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414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REJECT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0120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exists (Accepted, DPO, In Collection)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7240" y="2971800"/>
            <a:ext cx="3383280" cy="43891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2971800"/>
            <a:ext cx="45720" cy="43891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29900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31821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Complainer, Unsubscribed, Email not valid, Blacklisted...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11880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35935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overwrite CC manual corrections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754880" y="1005840"/>
            <a:ext cx="54864" cy="3474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4"/>
          <p:cNvSpPr/>
          <p:nvPr/>
        </p:nvSpPr>
        <p:spPr>
          <a:xfrm>
            <a:off x="4983480" y="1143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49834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562356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Verification — LV/LT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983480" y="15544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Platform (manual):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ov_status values: verified, rejected, questionable, recheck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Tool (automated):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pv_status values: phone, domain, bounce checks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Mapping: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8 = 603 combinations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98348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Final Statuses: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983480" y="3611880"/>
            <a:ext cx="777240" cy="3200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34" name="Text 30"/>
          <p:cNvSpPr/>
          <p:nvPr/>
        </p:nvSpPr>
        <p:spPr>
          <a:xfrm>
            <a:off x="4983480" y="3611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852160" y="3611880"/>
            <a:ext cx="7772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6" name="Text 32"/>
          <p:cNvSpPr/>
          <p:nvPr/>
        </p:nvSpPr>
        <p:spPr>
          <a:xfrm>
            <a:off x="5852160" y="3611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720840" y="3611880"/>
            <a:ext cx="777240" cy="3200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8" name="Text 34"/>
          <p:cNvSpPr/>
          <p:nvPr/>
        </p:nvSpPr>
        <p:spPr>
          <a:xfrm>
            <a:off x="6720840" y="3611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7589520" y="3611880"/>
            <a:ext cx="7772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6"/>
          <p:cNvSpPr/>
          <p:nvPr/>
        </p:nvSpPr>
        <p:spPr>
          <a:xfrm>
            <a:off x="7589520" y="36118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AS-IS PROCESS — STAGES 9-10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960120"/>
            <a:ext cx="54864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097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&amp; QA Review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14173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Admin/CC manually triggers status collection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calls LVLT: POST /api/contactInfo-by-mails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MainDB getDpoStatusByCID or cs-canada-stats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sync → Master sheet → Remote sheets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reviews call recordings manually (16 rejection categories)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971800"/>
            <a:ext cx="54864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&amp; Final Delivery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429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dispute rejections via sheet comments (unstructured)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Admin manually reviews rework requests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leads delivered to client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aggregated: Master → All Stats → Campaign/Delivery Tracking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448056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45920" y="44622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flow is completely unstructured — just comments in a column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1772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 SUMMARY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265176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3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lead transfer to MainDB — single biggest bottleneck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960120"/>
            <a:ext cx="265176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46304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153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campaign init (Word + email)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210312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2176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sprawl per campaign/vendor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83280" y="274320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17" name="Text 14"/>
          <p:cNvSpPr/>
          <p:nvPr/>
        </p:nvSpPr>
        <p:spPr>
          <a:xfrm>
            <a:off x="3520440" y="2816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status overwrite conflict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83280" y="338328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19" name="Text 16"/>
          <p:cNvSpPr/>
          <p:nvPr/>
        </p:nvSpPr>
        <p:spPr>
          <a:xfrm>
            <a:off x="3520440" y="3456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portal or validation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960120"/>
            <a:ext cx="2651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POST-MVP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17920" y="146304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153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vendor comms (email/chat)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17920" y="210312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2176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stats aggregation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17920" y="274320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27" name="Text 24"/>
          <p:cNvSpPr/>
          <p:nvPr/>
        </p:nvSpPr>
        <p:spPr>
          <a:xfrm>
            <a:off x="6355080" y="2816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review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17920" y="338328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29" name="Text 26"/>
          <p:cNvSpPr/>
          <p:nvPr/>
        </p:nvSpPr>
        <p:spPr>
          <a:xfrm>
            <a:off x="6355080" y="3456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rework flow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17920" y="4023360"/>
            <a:ext cx="2651760" cy="530352"/>
          </a:xfrm>
          <a:prstGeom prst="rect">
            <a:avLst/>
          </a:prstGeom>
          <a:solidFill>
            <a:srgbClr val="354A6A"/>
          </a:solidFill>
          <a:ln/>
        </p:spPr>
      </p:sp>
      <p:sp>
        <p:nvSpPr>
          <p:cNvPr id="31" name="Text 28"/>
          <p:cNvSpPr/>
          <p:nvPr/>
        </p:nvSpPr>
        <p:spPr>
          <a:xfrm>
            <a:off x="6355080" y="4096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17720"/>
            <a:ext cx="8229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9F6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TO-BE MVP PROCESS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Google Sheets with a centralized platform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stages → 6 stages  |  Existing MainDB &amp; LV/LT APIs preserved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TO-BE MVP — STAGES 1-3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960120"/>
            <a:ext cx="54864" cy="12344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097280"/>
            <a:ext cx="457200" cy="45720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033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Platform-Based Campaign Initiation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1344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Admin creates campaign in platform. Pulls Client/CID from Registry API. Enters goal, GEO, criteria, CQs, deadline, ABM list. Auto-populates Campaign Tracking.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288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8105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REPLACED: Word doc + email + manual sheet entry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33172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331720"/>
            <a:ext cx="54864" cy="12344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17320" y="2404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 via Platform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17320" y="2715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vendors, allocate goal portions in-platform. Requirements shared through platform. Limited vendor visibility. Phone script approval built in.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20040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1821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REPLACED: Separate emails/chats + manual Remote sheets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703320"/>
            <a:ext cx="54864" cy="12344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24" name="Shape 19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25" name="Text 20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417320" y="3776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Lead Upload via Platform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417320" y="40873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upload through portal with data validation at upload (required fields, format checks, criteria matching). DPO ID &amp; submission date auto-assigned.</a:t>
            </a:r>
            <a:endParaRPr lang="en-US" sz="10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572000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45920" y="45537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REPLACED: Unvalidated Remote sheet entry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TO-BE MVP — STAGES 4-6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960120"/>
            <a:ext cx="54864" cy="12344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097280"/>
            <a:ext cx="457200" cy="45720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1033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Lead Transfer to MainDB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1344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sends batches via POST /api/lead-upload/dpo automatically. Receives UUID, polls for statuses. 14 MainDB statuses mapped and displayed.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288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8105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ELIMINATED: Manual 2-4 hour transfer → under 5 minutes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33172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331720"/>
            <a:ext cx="54864" cy="12344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17320" y="2404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Status Collection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17320" y="2715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polling via /api/contactInfo-by-mails. Fallback: getDpoStatusByCID / cs-canada-stats. 600+ status combos mapped. CC overwrite conflict resolved — platform is single source of truth.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20040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1821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REPLACED: Manually triggered process → automated continuous polling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703320"/>
            <a:ext cx="54864" cy="12344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24" name="Shape 19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25" name="Text 20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417320" y="3776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Tracking &amp; Reporting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417320" y="40873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Campaign Tracking, Delivery Tracking, Stats dashboards. Real-time pacing, percentage metrics. Event-driven notifications (new leads, status changes, reminders).</a:t>
            </a:r>
            <a:endParaRPr lang="en-US" sz="10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572000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45920" y="45537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REPLACED: Formula-based Google Sheet tabs → real-time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POST-MVP VISION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Analytics, Dashboards &amp; Reporting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18872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188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1389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Dashboards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analytics (by reason, vendor, GEO, time)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scoring &amp; leaderboard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with pipeline forecasting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8328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118872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88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389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Automation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204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monthly report generation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2044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report builder (filters, CSV/Excel export)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2044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migration from Google Sheets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17920" y="1188720"/>
            <a:ext cx="2651760" cy="45720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1188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17920" y="1389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Improvements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5508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rework &amp; dispute resolution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5508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vendor submit → admin review → log history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3159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 Phone call automation  |  QA recording review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CHARTER — GOALS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05840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0972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07899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lead transfer time from 2-4 hours to under 5 minutes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1664208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664208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175564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173736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campaign management — from 3-10+ Google Sheets to zero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322576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322576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241401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239572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status collection — manually triggered → continuous polling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2980944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980944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30723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3054096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portal with data validation — reduce errors by 50%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3639312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8640" y="3639312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Shape 25"/>
          <p:cNvSpPr/>
          <p:nvPr/>
        </p:nvSpPr>
        <p:spPr>
          <a:xfrm>
            <a:off x="777240" y="37307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371600" y="3712464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campaign initiation — setup time from 1-2 hours to 15 min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44074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Goals:  Rejection analytics  ·  Vendor scoring  ·  Executive dashboards  ·  Automated reporting  ·  Data migration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CHARTER — RESULTS &amp; LIMITATIONS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3931920" cy="36576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RESULTS (Deliverables)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DPO Platform web application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lead push to MainDB via API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status collection (14 + 600+ mappings)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Delivery Tracking dashboards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(Admin, CC, QC/QA, Vendor)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 system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(Out of Scope)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1417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NOT modify INFUSE LG, Registry, or MainDB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4632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NOT change LV/LT verification process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46320" y="2331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portal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46320" y="2788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recruitment/contracts/billing excluded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6320" y="3246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migration → Post-MVP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3703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automation &amp; QA review → out of scope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CHARTER — KPIs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23160"/>
                <a:gridCol w="2423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transfer time / 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hours (manual)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minutes (auto)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Sheets / campaign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3-10+ sheets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sheets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collection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triggered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polling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data errors at upload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~15-20% (no validation)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setup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hours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KPIs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3152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 generation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74904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hours manual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17220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root-cause analysis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749040" y="4251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per campaign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72200" y="4251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dashboard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3152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visibility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74904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7220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scores + leaderboard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CHARTER — RISKS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640080"/>
                <a:gridCol w="640080"/>
                <a:gridCol w="4023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LV/LT &amp; MainDB APIs behave unexpectedly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API testing, sandbox in sprint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MainDB lead push differs from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collections, manual fallback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600+ status mapping errors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review + automated 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resistance to new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involvement, parallel run,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availability gaps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meetings, async reviews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from new requirements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MVP scope, change request process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 during transition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run + reconciliation checks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 — TIMELINE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097280"/>
            <a:ext cx="14630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Pre-MVP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 – Jun 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57400" y="1097280"/>
            <a:ext cx="438912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2057400" y="1097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057400" y="1371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weeks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57400" y="16916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 – Oct 16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92240" y="1097280"/>
            <a:ext cx="2926080" cy="54864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weeks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9224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 – Jan 30, 2027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Phase Breakdown: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82880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wks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0" y="2514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UI/UX wireframes, status mapping spec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2916936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29169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828800" y="29169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wks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0" y="29169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init, vendor mgmt, lead upload, MainDB, LV/LT, notifications, RBAC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319272"/>
            <a:ext cx="804672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319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828800" y="33192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743200" y="3319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UI, vendor portal, dashboards, lead views (overlaps backend)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3721608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37216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828800" y="3721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743200" y="37216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Unit/integration, E2E, 2-week UAT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4123944"/>
            <a:ext cx="804672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" y="41239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828800" y="41239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wks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743200" y="41239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production (2-3 pilot campaigns), training, parallel ops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731520" y="4526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828800" y="4526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743200" y="4526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contingency for schedule risk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4" name="Text 4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PROJECT: ~9 months  (May 2026 – January 2027)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63440"/>
            <a:ext cx="777240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&amp; KEY MILESTONES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Roles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325880"/>
            <a:ext cx="5486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62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1554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charter, timeline, training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87452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874520"/>
            <a:ext cx="5486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2103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process docs, mapping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242316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423160"/>
            <a:ext cx="5486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4597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2651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testing, deployment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297180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2971800"/>
            <a:ext cx="5486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008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Owner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wireframes, prototypes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" y="352044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3520440"/>
            <a:ext cx="5486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557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37490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prioritization, scoring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" y="406908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" y="4069080"/>
            <a:ext cx="5486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105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Sponsor/Customer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" y="42976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approval, UAT, validation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141732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Shape 30"/>
          <p:cNvSpPr/>
          <p:nvPr/>
        </p:nvSpPr>
        <p:spPr>
          <a:xfrm>
            <a:off x="4942332" y="155448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0" y="1344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897880" y="1344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Plan approved / Kickoff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92040" y="178308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Shape 34"/>
          <p:cNvSpPr/>
          <p:nvPr/>
        </p:nvSpPr>
        <p:spPr>
          <a:xfrm>
            <a:off x="4942332" y="192024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5"/>
          <p:cNvSpPr/>
          <p:nvPr/>
        </p:nvSpPr>
        <p:spPr>
          <a:xfrm>
            <a:off x="5120640" y="1709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19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97880" y="1709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 complete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892040" y="214884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Shape 38"/>
          <p:cNvSpPr/>
          <p:nvPr/>
        </p:nvSpPr>
        <p:spPr>
          <a:xfrm>
            <a:off x="4942332" y="228600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9"/>
          <p:cNvSpPr/>
          <p:nvPr/>
        </p:nvSpPr>
        <p:spPr>
          <a:xfrm>
            <a:off x="5120640" y="2075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897880" y="2075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complete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892040" y="251460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5" name="Shape 42"/>
          <p:cNvSpPr/>
          <p:nvPr/>
        </p:nvSpPr>
        <p:spPr>
          <a:xfrm>
            <a:off x="4942332" y="265176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3"/>
          <p:cNvSpPr/>
          <p:nvPr/>
        </p:nvSpPr>
        <p:spPr>
          <a:xfrm>
            <a:off x="5120640" y="2441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28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897880" y="2441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complete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892040" y="288036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9" name="Shape 46"/>
          <p:cNvSpPr/>
          <p:nvPr/>
        </p:nvSpPr>
        <p:spPr>
          <a:xfrm>
            <a:off x="4942332" y="301752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7"/>
          <p:cNvSpPr/>
          <p:nvPr/>
        </p:nvSpPr>
        <p:spPr>
          <a:xfrm>
            <a:off x="5120640" y="28072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897880" y="2807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complete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892040" y="324612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3" name="Shape 50"/>
          <p:cNvSpPr/>
          <p:nvPr/>
        </p:nvSpPr>
        <p:spPr>
          <a:xfrm>
            <a:off x="4942332" y="338328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1"/>
          <p:cNvSpPr/>
          <p:nvPr/>
        </p:nvSpPr>
        <p:spPr>
          <a:xfrm>
            <a:off x="5120640" y="3172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5897880" y="3172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892040" y="3611880"/>
            <a:ext cx="137160" cy="13716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57" name="Shape 54"/>
          <p:cNvSpPr/>
          <p:nvPr/>
        </p:nvSpPr>
        <p:spPr>
          <a:xfrm>
            <a:off x="4942332" y="374904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5"/>
          <p:cNvSpPr/>
          <p:nvPr/>
        </p:nvSpPr>
        <p:spPr>
          <a:xfrm>
            <a:off x="5120640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16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5897880" y="3538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phase closed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892040" y="3977640"/>
            <a:ext cx="137160" cy="13716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61" name="Shape 58"/>
          <p:cNvSpPr/>
          <p:nvPr/>
        </p:nvSpPr>
        <p:spPr>
          <a:xfrm>
            <a:off x="4942332" y="411480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59"/>
          <p:cNvSpPr/>
          <p:nvPr/>
        </p:nvSpPr>
        <p:spPr>
          <a:xfrm>
            <a:off x="5120640" y="39044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16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5897880" y="3904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features deployed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4892040" y="4343400"/>
            <a:ext cx="137160" cy="137160"/>
          </a:xfrm>
          <a:prstGeom prst="ellipse">
            <a:avLst/>
          </a:prstGeom>
          <a:solidFill>
            <a:srgbClr val="2D9F6F"/>
          </a:solidFill>
          <a:ln/>
        </p:spPr>
      </p:sp>
      <p:sp>
        <p:nvSpPr>
          <p:cNvPr id="65" name="Text 62"/>
          <p:cNvSpPr/>
          <p:nvPr/>
        </p:nvSpPr>
        <p:spPr>
          <a:xfrm>
            <a:off x="5120640" y="4270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30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5897880" y="4270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phase closed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sleepy-ramanujan/infus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17720"/>
            <a:ext cx="82296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2801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fragmented Google Sheets workflow with a centralized platform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20574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eliminates the biggest bottleneck — manual lead transfer — and automates campaign init, vendor management, status collection &amp; dashboards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8036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2834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builds analytics, reporting &amp; vendor intelligence on top of the MVP foundation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731520" y="356616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7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months  |  Clear scope boundaries  |  Quantifiable KPIs  |  Identified risks with mitigation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DPO Platform — Project Presentation</dc:title>
  <dc:subject>PptxGenJS Presentation</dc:subject>
  <dc:creator>Ilia Chigogidze</dc:creator>
  <cp:lastModifiedBy>Ilia Chigogidze</cp:lastModifiedBy>
  <cp:revision>1</cp:revision>
  <dcterms:created xsi:type="dcterms:W3CDTF">2026-04-07T11:19:11Z</dcterms:created>
  <dcterms:modified xsi:type="dcterms:W3CDTF">2026-04-07T11:19:11Z</dcterms:modified>
</cp:coreProperties>
</file>